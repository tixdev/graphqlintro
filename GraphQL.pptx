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16673"/>
                </a:solidFill>
                <a:latin typeface="Consolas"/>
              </a:defRPr>
            </a:pPr>
            <a:r>
              <a:t>query {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16673"/>
                </a:solidFill>
                <a:latin typeface="Consolas"/>
              </a:defRPr>
            </a:pPr>
            <a:r>
              <a:t>  user(id: 123)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16673"/>
                </a:solidFill>
                <a:latin typeface="Consolas"/>
              </a:defRPr>
            </a:pPr>
            <a:r>
              <a:t>    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8686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16673"/>
                </a:solidFill>
                <a:latin typeface="Consolas"/>
              </a:defRPr>
            </a:pPr>
            <a:r>
              <a:t>    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097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16673"/>
                </a:solidFill>
                <a:latin typeface="Consolas"/>
              </a:defRPr>
            </a:pPr>
            <a:r>
              <a:t>    posts {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16673"/>
                </a:solidFill>
                <a:latin typeface="Consolas"/>
              </a:defRPr>
            </a:pPr>
            <a:r>
              <a:t>     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16673"/>
                </a:solidFill>
                <a:latin typeface="Consolas"/>
              </a:defRPr>
            </a:pPr>
            <a:r>
              <a:t>   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16673"/>
                </a:solidFill>
                <a:latin typeface="Consolas"/>
              </a:defRPr>
            </a:pPr>
            <a:r>
              <a:t> 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1667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16673"/>
                </a:solidFill>
                <a:latin typeface="Consolas"/>
              </a:defRPr>
            </a:pPr>
            <a:r>
              <a:t>fragment Info {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02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16673"/>
                </a:solidFill>
                <a:latin typeface="Consolas"/>
              </a:defRPr>
            </a:pPr>
            <a:r>
              <a:t>  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731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16673"/>
                </a:solidFill>
                <a:latin typeface="Consolas"/>
              </a:defRPr>
            </a:pPr>
            <a:r>
              <a:t>  avatar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960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1667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16673"/>
                </a:solidFill>
                <a:latin typeface="Consolas"/>
              </a:defRPr>
            </a:pPr>
            <a:r>
              <a:t>mutation 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8862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16673"/>
                </a:solidFill>
                <a:latin typeface="Consolas"/>
              </a:defRPr>
            </a:pPr>
            <a:r>
              <a:t>  update(...)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1667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931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16673"/>
                </a:solidFill>
                <a:latin typeface="Consolas"/>
              </a:defRPr>
            </a:pPr>
            <a:r>
              <a:t>type User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16673"/>
                </a:solidFill>
                <a:latin typeface="Consolas"/>
              </a:defRPr>
            </a:pPr>
            <a:r>
              <a:t>  name: 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1667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21" name="Oval 2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0A896">
              <a:lumMod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0" y="-1371600"/>
            <a:ext cx="3200400" cy="32004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371600" y="731520"/>
            <a:ext cx="36576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79" y="4114800"/>
            <a:ext cx="274320" cy="27432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1737360"/>
            <a:ext cx="731520" cy="274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3291840"/>
            <a:ext cx="548640" cy="274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Trebuchet MS"/>
              </a:defRPr>
            </a:pPr>
            <a:r>
              <a:t>GraphQL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5F5F5"/>
                </a:solidFill>
                <a:latin typeface="Calibri"/>
              </a:defRPr>
            </a:pPr>
            <a:r>
              <a:t>A Modern Approach to APIs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8090"/>
                </a:solidFill>
                <a:latin typeface="Trebuchet MS"/>
              </a:defRPr>
            </a:pPr>
            <a:r>
              <a:t>Problem #1: Over-fetching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Calibri"/>
              </a:defRPr>
            </a:pPr>
            <a:r>
              <a:t>Dropdown autocomplete downloads entire product objects with nested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  <a:latin typeface="Trebuchet MS"/>
              </a:defRPr>
            </a:pPr>
            <a:r>
              <a:t>REST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4206240" cy="3200400"/>
          </a:xfrm>
          <a:prstGeom prst="rect">
            <a:avLst/>
          </a:prstGeom>
          <a:solidFill>
            <a:srgbClr val="202124"/>
          </a:solidFill>
          <a:ln w="1270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4206240" cy="274320"/>
          </a:xfrm>
          <a:prstGeom prst="rect">
            <a:avLst/>
          </a:prstGeom>
          <a:solidFill>
            <a:srgbClr val="292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B4F8"/>
                </a:solidFill>
                <a:latin typeface="Segoe UI"/>
              </a:defRPr>
            </a:pPr>
            <a:r>
              <a:t>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023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GET /api/products/search?q=laptop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365760" cy="164592"/>
          </a:xfrm>
          <a:prstGeom prst="rect">
            <a:avLst/>
          </a:prstGeom>
          <a:solidFill>
            <a:srgbClr val="3C2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657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>
                <a:solidFill>
                  <a:srgbClr val="F28B82"/>
                </a:solidFill>
                <a:latin typeface="Consolas"/>
              </a:defRPr>
            </a:pPr>
            <a:r>
              <a:t>200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057400"/>
            <a:ext cx="640080" cy="164592"/>
          </a:xfrm>
          <a:prstGeom prst="rect">
            <a:avLst/>
          </a:prstGeom>
          <a:solidFill>
            <a:srgbClr val="3C2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8B82"/>
                </a:solidFill>
                <a:latin typeface="Consolas"/>
              </a:defRPr>
            </a:pPr>
            <a:r>
              <a:t>85.2 KB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19" y="2057400"/>
            <a:ext cx="548640" cy="164592"/>
          </a:xfrm>
          <a:prstGeom prst="rect">
            <a:avLst/>
          </a:prstGeom>
          <a:solidFill>
            <a:srgbClr val="3C2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2057400"/>
            <a:ext cx="548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8B82"/>
                </a:solidFill>
                <a:latin typeface="Consolas"/>
              </a:defRPr>
            </a:pPr>
            <a:r>
              <a:t>245 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31720"/>
            <a:ext cx="4023359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AA0A6"/>
                </a:solidFill>
                <a:latin typeface="Segoe UI"/>
              </a:defRPr>
            </a:pPr>
            <a:r>
              <a:t>Preview: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96312"/>
            <a:ext cx="4023359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[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{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  "id": 123, "name": "Laptop Pro 15",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  "description": "Lorem ipsum... (2KB)",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  "specifications": {...}, // 15KB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  "images": [...], // 20KB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  "reviews": [...], // 35KB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  // ... more nested data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},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// ... 9 more products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34840"/>
            <a:ext cx="4206240" cy="228600"/>
          </a:xfrm>
          <a:prstGeom prst="rect">
            <a:avLst/>
          </a:prstGeom>
          <a:solidFill>
            <a:srgbClr val="292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80559"/>
            <a:ext cx="4023359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28B82"/>
                </a:solidFill>
                <a:latin typeface="Segoe UI"/>
              </a:defRPr>
            </a:pPr>
            <a:r>
              <a:t>⚠️ Transferred 85 KB • Used ~300 bytes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18872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  <a:latin typeface="Trebuchet MS"/>
              </a:defRPr>
            </a:pPr>
            <a:r>
              <a:t>GraphQL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463040"/>
            <a:ext cx="4206240" cy="3200400"/>
          </a:xfrm>
          <a:prstGeom prst="rect">
            <a:avLst/>
          </a:prstGeom>
          <a:solidFill>
            <a:srgbClr val="202124"/>
          </a:solidFill>
          <a:ln w="1270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1463040"/>
            <a:ext cx="4206240" cy="274320"/>
          </a:xfrm>
          <a:prstGeom prst="rect">
            <a:avLst/>
          </a:prstGeom>
          <a:solidFill>
            <a:srgbClr val="292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5087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B4F8"/>
                </a:solidFill>
                <a:latin typeface="Segoe UI"/>
              </a:defRPr>
            </a:pPr>
            <a:r>
              <a:t>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828800"/>
            <a:ext cx="4023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POST /graphql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057400"/>
            <a:ext cx="365760" cy="164592"/>
          </a:xfrm>
          <a:prstGeom prst="rect">
            <a:avLst/>
          </a:prstGeom>
          <a:solidFill>
            <a:srgbClr val="282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057400"/>
            <a:ext cx="3657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>
                <a:solidFill>
                  <a:srgbClr val="81C995"/>
                </a:solidFill>
                <a:latin typeface="Consolas"/>
              </a:defRPr>
            </a:pPr>
            <a:r>
              <a:t>200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057400"/>
            <a:ext cx="640080" cy="164592"/>
          </a:xfrm>
          <a:prstGeom prst="rect">
            <a:avLst/>
          </a:prstGeom>
          <a:solidFill>
            <a:srgbClr val="282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0574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81C995"/>
                </a:solidFill>
                <a:latin typeface="Consolas"/>
              </a:defRPr>
            </a:pPr>
            <a:r>
              <a:t>280 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2057400"/>
            <a:ext cx="548640" cy="164592"/>
          </a:xfrm>
          <a:prstGeom prst="rect">
            <a:avLst/>
          </a:prstGeom>
          <a:solidFill>
            <a:srgbClr val="282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2057400"/>
            <a:ext cx="548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81C995"/>
                </a:solidFill>
                <a:latin typeface="Consolas"/>
              </a:defRPr>
            </a:pPr>
            <a:r>
              <a:t>98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331720"/>
            <a:ext cx="4023359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AA0A6"/>
                </a:solidFill>
                <a:latin typeface="Segoe UI"/>
              </a:defRPr>
            </a:pPr>
            <a:r>
              <a:t>Preview: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496312"/>
            <a:ext cx="4023359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products(search: "laptop") {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  id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  name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700">
                <a:solidFill>
                  <a:srgbClr val="9AA0A6"/>
                </a:solidFill>
                <a:latin typeface="Consolas"/>
              </a:defRPr>
            </a:pPr>
            <a:r>
              <a:t>// Response: just IDs and names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{ "products": [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{"id": 123, "name": "Laptop Pro 15"},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{"id": 124, "name": "Laptop Air 13"}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]}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434840"/>
            <a:ext cx="4206240" cy="228600"/>
          </a:xfrm>
          <a:prstGeom prst="rect">
            <a:avLst/>
          </a:prstGeom>
          <a:solidFill>
            <a:srgbClr val="292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4480559"/>
            <a:ext cx="4023359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1C995"/>
                </a:solidFill>
                <a:latin typeface="Segoe UI"/>
              </a:defRPr>
            </a:pPr>
            <a:r>
              <a:t>✅ Transferred 280 bytes • Perfect match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8090"/>
                </a:solidFill>
                <a:latin typeface="Trebuchet MS"/>
              </a:defRPr>
            </a:pPr>
            <a:r>
              <a:t>Problem #2: Under-fetching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Calibri"/>
              </a:defRPr>
            </a:pPr>
            <a:r>
              <a:t>Dashboard loads order details → Multiple sequential requests (waterfall)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  <a:latin typeface="Trebuchet MS"/>
              </a:defRPr>
            </a:pPr>
            <a:r>
              <a:t>REST API - Sequential 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4206240" cy="274320"/>
          </a:xfrm>
          <a:prstGeom prst="rect">
            <a:avLst/>
          </a:prstGeom>
          <a:solidFill>
            <a:srgbClr val="202124"/>
          </a:solidFill>
          <a:ln w="635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onsolas"/>
              </a:defRPr>
            </a:pPr>
            <a:r>
              <a:t>orders/456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27048"/>
            <a:ext cx="1097280" cy="146304"/>
          </a:xfrm>
          <a:prstGeom prst="rect">
            <a:avLst/>
          </a:prstGeom>
          <a:solidFill>
            <a:srgbClr val="F2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06039" y="15087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28B82"/>
                </a:solidFill>
                <a:latin typeface="Consolas"/>
              </a:defRPr>
            </a:pPr>
            <a:r>
              <a:t>120ms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783080"/>
            <a:ext cx="4206240" cy="274320"/>
          </a:xfrm>
          <a:prstGeom prst="rect">
            <a:avLst/>
          </a:prstGeom>
          <a:solidFill>
            <a:srgbClr val="202124"/>
          </a:solidFill>
          <a:ln w="635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onsolas"/>
              </a:defRPr>
            </a:pPr>
            <a:r>
              <a:t>customers/789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19072" y="1847088"/>
            <a:ext cx="1188720" cy="146304"/>
          </a:xfrm>
          <a:prstGeom prst="rect">
            <a:avLst/>
          </a:prstGeom>
          <a:solidFill>
            <a:srgbClr val="F2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1" y="182880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28B82"/>
                </a:solidFill>
                <a:latin typeface="Consolas"/>
              </a:defRPr>
            </a:pPr>
            <a:r>
              <a:t>130ms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03120"/>
            <a:ext cx="4206240" cy="274320"/>
          </a:xfrm>
          <a:prstGeom prst="rect">
            <a:avLst/>
          </a:prstGeom>
          <a:solidFill>
            <a:srgbClr val="202124"/>
          </a:solidFill>
          <a:ln w="635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48839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onsolas"/>
              </a:defRPr>
            </a:pPr>
            <a:r>
              <a:t>products?ids=1,2,3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93392" y="2167127"/>
            <a:ext cx="1280160" cy="146304"/>
          </a:xfrm>
          <a:prstGeom prst="rect">
            <a:avLst/>
          </a:prstGeom>
          <a:solidFill>
            <a:srgbClr val="F2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9272" y="2148839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28B82"/>
                </a:solidFill>
                <a:latin typeface="Consolas"/>
              </a:defRPr>
            </a:pPr>
            <a:r>
              <a:t>140ms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23160"/>
            <a:ext cx="4206240" cy="274320"/>
          </a:xfrm>
          <a:prstGeom prst="rect">
            <a:avLst/>
          </a:prstGeom>
          <a:solidFill>
            <a:srgbClr val="202124"/>
          </a:solidFill>
          <a:ln w="635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68879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onsolas"/>
              </a:defRPr>
            </a:pPr>
            <a:r>
              <a:t>inventory?ids=1,2,3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288" y="2487168"/>
            <a:ext cx="1143000" cy="146304"/>
          </a:xfrm>
          <a:prstGeom prst="rect">
            <a:avLst/>
          </a:prstGeom>
          <a:solidFill>
            <a:srgbClr val="F2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93008" y="2468879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28B82"/>
                </a:solidFill>
                <a:latin typeface="Consolas"/>
              </a:defRPr>
            </a:pPr>
            <a:r>
              <a:t>125ms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43200"/>
            <a:ext cx="4206240" cy="274320"/>
          </a:xfrm>
          <a:prstGeom prst="rect">
            <a:avLst/>
          </a:prstGeom>
          <a:solidFill>
            <a:srgbClr val="202124"/>
          </a:solidFill>
          <a:ln w="635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788920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onsolas"/>
              </a:defRPr>
            </a:pPr>
            <a:r>
              <a:t>shipping/calc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32888" y="2807208"/>
            <a:ext cx="1234440" cy="146304"/>
          </a:xfrm>
          <a:prstGeom prst="rect">
            <a:avLst/>
          </a:prstGeom>
          <a:solidFill>
            <a:srgbClr val="F2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3048" y="27889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28B82"/>
                </a:solidFill>
                <a:latin typeface="Consolas"/>
              </a:defRPr>
            </a:pPr>
            <a:r>
              <a:t>135ms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063240"/>
            <a:ext cx="4206240" cy="274320"/>
          </a:xfrm>
          <a:prstGeom prst="rect">
            <a:avLst/>
          </a:prstGeom>
          <a:solidFill>
            <a:srgbClr val="202124"/>
          </a:solidFill>
          <a:ln w="635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108960"/>
            <a:ext cx="11887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onsolas"/>
              </a:defRPr>
            </a:pPr>
            <a:r>
              <a:t>payments/456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2928" y="3127248"/>
            <a:ext cx="1051560" cy="146304"/>
          </a:xfrm>
          <a:prstGeom prst="rect">
            <a:avLst/>
          </a:prstGeom>
          <a:solidFill>
            <a:srgbClr val="F28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0207" y="31089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28B82"/>
                </a:solidFill>
                <a:latin typeface="Consolas"/>
              </a:defRPr>
            </a:pPr>
            <a:r>
              <a:t>115ms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43891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E91E63"/>
                </a:solidFill>
                <a:latin typeface="Calibri"/>
              </a:defRPr>
            </a:pPr>
            <a:r>
              <a:t>⚠️ Total: ~865ms (6 sequential requests)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118872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  <a:latin typeface="Trebuchet MS"/>
              </a:defRPr>
            </a:pPr>
            <a:r>
              <a:t>GraphQL - Single Request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463040"/>
            <a:ext cx="4206240" cy="274320"/>
          </a:xfrm>
          <a:prstGeom prst="rect">
            <a:avLst/>
          </a:prstGeom>
          <a:solidFill>
            <a:srgbClr val="202124"/>
          </a:solidFill>
          <a:ln w="635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150876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onsolas"/>
              </a:defRPr>
            </a:pPr>
            <a:r>
              <a:t>graphql (all data)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1527048"/>
            <a:ext cx="1280160" cy="146304"/>
          </a:xfrm>
          <a:prstGeom prst="rect">
            <a:avLst/>
          </a:prstGeom>
          <a:solidFill>
            <a:srgbClr val="81C9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150876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1C995"/>
                </a:solidFill>
                <a:latin typeface="Consolas"/>
              </a:defRPr>
            </a:pPr>
            <a:r>
              <a:t>140ms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0" y="1828800"/>
            <a:ext cx="4206240" cy="2468880"/>
          </a:xfrm>
          <a:prstGeom prst="rect">
            <a:avLst/>
          </a:prstGeom>
          <a:solidFill>
            <a:srgbClr val="202124"/>
          </a:solidFill>
          <a:ln w="1270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09160" y="1920240"/>
            <a:ext cx="39319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{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order(id: 456) {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id, total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customer { name, email 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items {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product { name, price 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  inventory { available 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shipping { method, cost 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  payment { status 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389120"/>
            <a:ext cx="4206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0A896"/>
                </a:solidFill>
                <a:latin typeface="Calibri"/>
              </a:defRPr>
            </a:pPr>
            <a:r>
              <a:t>✅ Total: 140ms (single parallel request • 6x faster)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28090"/>
                </a:solidFill>
                <a:latin typeface="Trebuchet MS"/>
              </a:defRPr>
            </a:pPr>
            <a:r>
              <a:t>Problem #3: Multiple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Calibri"/>
              </a:defRPr>
            </a:pPr>
            <a:r>
              <a:t>Different views require different endpoints → API proliferation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  <a:latin typeface="Trebuchet MS"/>
              </a:defRPr>
            </a:pPr>
            <a:r>
              <a:t>REST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4206240" cy="3200400"/>
          </a:xfrm>
          <a:prstGeom prst="rect">
            <a:avLst/>
          </a:prstGeom>
          <a:solidFill>
            <a:srgbClr val="202124"/>
          </a:solidFill>
          <a:ln w="1270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4206240" cy="274320"/>
          </a:xfrm>
          <a:prstGeom prst="rect">
            <a:avLst/>
          </a:prstGeom>
          <a:solidFill>
            <a:srgbClr val="292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B4F8"/>
                </a:solidFill>
                <a:latin typeface="Segoe UI"/>
              </a:defRPr>
            </a:pPr>
            <a:r>
              <a:t>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4023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Multiple specialized endpoints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365760" cy="164592"/>
          </a:xfrm>
          <a:prstGeom prst="rect">
            <a:avLst/>
          </a:prstGeom>
          <a:solidFill>
            <a:srgbClr val="3C2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3657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>
                <a:solidFill>
                  <a:srgbClr val="F28B82"/>
                </a:solidFill>
                <a:latin typeface="Consolas"/>
              </a:defRPr>
            </a:pPr>
            <a:r>
              <a:t>200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057400"/>
            <a:ext cx="640080" cy="164592"/>
          </a:xfrm>
          <a:prstGeom prst="rect">
            <a:avLst/>
          </a:prstGeom>
          <a:solidFill>
            <a:srgbClr val="3C2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8B82"/>
                </a:solidFill>
                <a:latin typeface="Consolas"/>
              </a:defRPr>
            </a:pPr>
            <a:r>
              <a:t>---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19" y="2057400"/>
            <a:ext cx="548640" cy="164592"/>
          </a:xfrm>
          <a:prstGeom prst="rect">
            <a:avLst/>
          </a:prstGeom>
          <a:solidFill>
            <a:srgbClr val="3C2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2057400"/>
            <a:ext cx="548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F28B82"/>
                </a:solidFill>
                <a:latin typeface="Consolas"/>
              </a:defRPr>
            </a:pPr>
            <a:r>
              <a:t>---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331720"/>
            <a:ext cx="4023359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AA0A6"/>
                </a:solidFill>
                <a:latin typeface="Segoe UI"/>
              </a:defRPr>
            </a:pPr>
            <a:r>
              <a:t>Preview: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496312"/>
            <a:ext cx="4023359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GET /api/products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GET /api/products/:id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GET /api/products/search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GET /api/products/autocomplete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GET /api/products/:id/reviews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GET /api/products/:id/inventory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GET /api/products/:id/pricing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GET /api/products/trending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GET /api/products/recommendations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700">
                <a:solidFill>
                  <a:srgbClr val="9AA0A6"/>
                </a:solidFill>
                <a:latin typeface="Consolas"/>
              </a:defRPr>
            </a:pPr>
            <a:r>
              <a:t>// ... 150+ more endpoints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34840"/>
            <a:ext cx="4206240" cy="228600"/>
          </a:xfrm>
          <a:prstGeom prst="rect">
            <a:avLst/>
          </a:prstGeom>
          <a:solidFill>
            <a:srgbClr val="292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480559"/>
            <a:ext cx="4023359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F28B82"/>
                </a:solidFill>
                <a:latin typeface="Segoe UI"/>
              </a:defRPr>
            </a:pPr>
            <a:r>
              <a:t>⚠️ Maintenance &amp; versioning nightmare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188720"/>
            <a:ext cx="4206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  <a:latin typeface="Trebuchet MS"/>
              </a:defRPr>
            </a:pPr>
            <a:r>
              <a:t>GraphQL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463040"/>
            <a:ext cx="4206240" cy="3200400"/>
          </a:xfrm>
          <a:prstGeom prst="rect">
            <a:avLst/>
          </a:prstGeom>
          <a:solidFill>
            <a:srgbClr val="202124"/>
          </a:solidFill>
          <a:ln w="12700">
            <a:solidFill>
              <a:srgbClr val="3C4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1463040"/>
            <a:ext cx="4206240" cy="274320"/>
          </a:xfrm>
          <a:prstGeom prst="rect">
            <a:avLst/>
          </a:prstGeom>
          <a:solidFill>
            <a:srgbClr val="292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50876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8AB4F8"/>
                </a:solidFill>
                <a:latin typeface="Segoe UI"/>
              </a:defRPr>
            </a:pPr>
            <a:r>
              <a:t>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828800"/>
            <a:ext cx="402335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nsolas"/>
              </a:defRPr>
            </a:pPr>
            <a:r>
              <a:t>POST /graphql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057400"/>
            <a:ext cx="365760" cy="164592"/>
          </a:xfrm>
          <a:prstGeom prst="rect">
            <a:avLst/>
          </a:prstGeom>
          <a:solidFill>
            <a:srgbClr val="282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057400"/>
            <a:ext cx="3657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>
                <a:solidFill>
                  <a:srgbClr val="81C995"/>
                </a:solidFill>
                <a:latin typeface="Consolas"/>
              </a:defRPr>
            </a:pPr>
            <a:r>
              <a:t>200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057400"/>
            <a:ext cx="640080" cy="164592"/>
          </a:xfrm>
          <a:prstGeom prst="rect">
            <a:avLst/>
          </a:prstGeom>
          <a:solidFill>
            <a:srgbClr val="282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2057400"/>
            <a:ext cx="6400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81C995"/>
                </a:solidFill>
                <a:latin typeface="Consolas"/>
              </a:defRPr>
            </a:pPr>
            <a:r>
              <a:t>Varies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2057400"/>
            <a:ext cx="548640" cy="164592"/>
          </a:xfrm>
          <a:prstGeom prst="rect">
            <a:avLst/>
          </a:prstGeom>
          <a:solidFill>
            <a:srgbClr val="282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2057400"/>
            <a:ext cx="5486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1">
                <a:solidFill>
                  <a:srgbClr val="81C995"/>
                </a:solidFill>
                <a:latin typeface="Consolas"/>
              </a:defRPr>
            </a:pPr>
            <a:r>
              <a:t>Varies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2331720"/>
            <a:ext cx="4023359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AA0A6"/>
                </a:solidFill>
                <a:latin typeface="Segoe UI"/>
              </a:defRPr>
            </a:pPr>
            <a:r>
              <a:t>Preview: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496312"/>
            <a:ext cx="4023359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9AA0A6"/>
                </a:solidFill>
                <a:latin typeface="Consolas"/>
              </a:defRPr>
            </a:pPr>
            <a:r>
              <a:t>// One flexible endpoint</a:t>
            </a:r>
          </a:p>
          <a:p>
            <a:pPr>
              <a:defRPr sz="700">
                <a:solidFill>
                  <a:srgbClr val="9AA0A6"/>
                </a:solidFill>
                <a:latin typeface="Consolas"/>
              </a:defRPr>
            </a:pPr>
            <a:r>
              <a:t>// Clients compose queries: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query Autocomplete {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products { id, name }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query DetailPage {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product(id: 123) {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  ...all fields you need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>
              <a:defRPr sz="7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0" y="4434840"/>
            <a:ext cx="4206240" cy="228600"/>
          </a:xfrm>
          <a:prstGeom prst="rect">
            <a:avLst/>
          </a:prstGeom>
          <a:solidFill>
            <a:srgbClr val="292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4480559"/>
            <a:ext cx="4023359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81C995"/>
                </a:solidFill>
                <a:latin typeface="Segoe UI"/>
              </a:defRPr>
            </a:pPr>
            <a:r>
              <a:t>✅ One endpoint • Self-documenting via schema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28090"/>
                </a:solidFill>
                <a:latin typeface="Trebuchet MS"/>
              </a:defRPr>
            </a:pPr>
            <a:r>
              <a:t>The GraphQL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4023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1731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Trebuchet MS"/>
              </a:defRPr>
            </a:pPr>
            <a:r>
              <a:t>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1907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300x less data transferred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31720"/>
            <a:ext cx="4023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6887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Trebuchet MS"/>
              </a:defRPr>
            </a:pPr>
            <a:r>
              <a:t>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7063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6x faster page loads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4023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11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🛠️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Trebuchet MS"/>
              </a:defRPr>
            </a:pPr>
            <a:r>
              <a:t>Developer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22191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Self-documenting APIs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280160"/>
            <a:ext cx="4023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59" y="150876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41731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Trebuchet MS"/>
              </a:defRPr>
            </a:pPr>
            <a:r>
              <a:t>Flexibility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71907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Clients define their data needs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2331720"/>
            <a:ext cx="4023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25603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46887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Trebuchet MS"/>
              </a:defRPr>
            </a:pPr>
            <a:r>
              <a:t>Type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77063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Strongly typed schema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3383280"/>
            <a:ext cx="4023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59" y="3611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♻️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5204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12121"/>
                </a:solidFill>
                <a:latin typeface="Trebuchet MS"/>
              </a:defRPr>
            </a:pPr>
            <a:r>
              <a:t>Evolution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822191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  <a:latin typeface="Calibri"/>
              </a:defRPr>
            </a:pPr>
            <a:r>
              <a:t>Add fields without versioning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Trebuchet MS"/>
              </a:defRPr>
            </a:pPr>
            <a:r>
              <a:t>Ready for the Demo?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5F5F5"/>
                </a:solidFill>
                <a:latin typeface="Calibri"/>
              </a:defRPr>
            </a:pPr>
            <a:r>
              <a:t>Let's see GraphQL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1828800" cy="4572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5F5F5"/>
                </a:solidFill>
                <a:latin typeface="Calibri"/>
              </a:defRPr>
            </a:pPr>
            <a:r>
              <a:t>Resources: graphql.org • Apollo GraphQL • The Guild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